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8" r:id="rId7"/>
    <p:sldId id="260" r:id="rId8"/>
    <p:sldId id="263" r:id="rId9"/>
    <p:sldId id="270" r:id="rId10"/>
    <p:sldId id="265" r:id="rId11"/>
    <p:sldId id="266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43"/>
  </p:normalViewPr>
  <p:slideViewPr>
    <p:cSldViewPr snapToGrid="0" snapToObjects="1">
      <p:cViewPr varScale="1">
        <p:scale>
          <a:sx n="90" d="100"/>
          <a:sy n="90" d="100"/>
        </p:scale>
        <p:origin x="8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45E-C8C8-DE42-BFD4-2B43F3B84E32}" type="datetimeFigureOut">
              <a:rPr lang="en-US" smtClean="0"/>
              <a:t>2/21/16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BC2B8-6341-924D-9361-043B2957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45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45E-C8C8-DE42-BFD4-2B43F3B84E32}" type="datetimeFigureOut">
              <a:rPr lang="en-US" smtClean="0"/>
              <a:t>2/21/16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BC2B8-6341-924D-9361-043B2957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863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45E-C8C8-DE42-BFD4-2B43F3B84E32}" type="datetimeFigureOut">
              <a:rPr lang="en-US" smtClean="0"/>
              <a:t>2/21/16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BC2B8-6341-924D-9361-043B2957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30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45E-C8C8-DE42-BFD4-2B43F3B84E32}" type="datetimeFigureOut">
              <a:rPr lang="en-US" smtClean="0"/>
              <a:t>2/21/16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BC2B8-6341-924D-9361-043B2957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332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45E-C8C8-DE42-BFD4-2B43F3B84E32}" type="datetimeFigureOut">
              <a:rPr lang="en-US" smtClean="0"/>
              <a:t>2/21/16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BC2B8-6341-924D-9361-043B2957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7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45E-C8C8-DE42-BFD4-2B43F3B84E32}" type="datetimeFigureOut">
              <a:rPr lang="en-US" smtClean="0"/>
              <a:t>2/21/16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BC2B8-6341-924D-9361-043B2957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1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45E-C8C8-DE42-BFD4-2B43F3B84E32}" type="datetimeFigureOut">
              <a:rPr lang="en-US" smtClean="0"/>
              <a:t>2/21/16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BC2B8-6341-924D-9361-043B2957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101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45E-C8C8-DE42-BFD4-2B43F3B84E32}" type="datetimeFigureOut">
              <a:rPr lang="en-US" smtClean="0"/>
              <a:t>2/21/16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BC2B8-6341-924D-9361-043B2957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0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45E-C8C8-DE42-BFD4-2B43F3B84E32}" type="datetimeFigureOut">
              <a:rPr lang="en-US" smtClean="0"/>
              <a:t>2/21/16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BC2B8-6341-924D-9361-043B2957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86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45E-C8C8-DE42-BFD4-2B43F3B84E32}" type="datetimeFigureOut">
              <a:rPr lang="en-US" smtClean="0"/>
              <a:t>2/21/16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BC2B8-6341-924D-9361-043B2957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41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45E-C8C8-DE42-BFD4-2B43F3B84E32}" type="datetimeFigureOut">
              <a:rPr lang="en-US" smtClean="0"/>
              <a:t>2/21/16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BC2B8-6341-924D-9361-043B2957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3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FC45E-C8C8-DE42-BFD4-2B43F3B84E32}" type="datetimeFigureOut">
              <a:rPr lang="en-US" smtClean="0"/>
              <a:t>2/21/16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BC2B8-6341-924D-9361-043B2957B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63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tif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KNN and Trees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Josh Bernhard</a:t>
            </a:r>
            <a:br>
              <a:rPr lang="en-US" dirty="0" smtClean="0"/>
            </a:br>
            <a:r>
              <a:rPr lang="en-US" dirty="0" smtClean="0"/>
              <a:t>Galvanize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570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1930"/>
            <a:ext cx="10515600" cy="1325563"/>
          </a:xfrm>
        </p:spPr>
        <p:txBody>
          <a:bodyPr/>
          <a:lstStyle/>
          <a:p>
            <a:r>
              <a:rPr lang="en-US" u="sng" dirty="0" smtClean="0"/>
              <a:t>Non-parametric vs. Parametric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787" y="1682750"/>
            <a:ext cx="10515600" cy="2446338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 smtClean="0"/>
              <a:t>Parametric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Multiple Linear Regression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Lasso/Ridge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General Additive Models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Generalized Linear Models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682750"/>
            <a:ext cx="8577262" cy="3400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b="1" u="sng" dirty="0" smtClean="0"/>
              <a:t>Non-Parametric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KNN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Bagging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Boosting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SVMs with Non-linear </a:t>
            </a:r>
            <a:r>
              <a:rPr lang="en-US" dirty="0" err="1" smtClean="0"/>
              <a:t>Kernals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966787" y="4129088"/>
            <a:ext cx="10668000" cy="205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66787" y="4776788"/>
            <a:ext cx="10515600" cy="2446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b="1" u="sng" dirty="0" smtClean="0"/>
              <a:t>No one Model beats all other models across all datasets.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119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1930"/>
            <a:ext cx="10515600" cy="1325563"/>
          </a:xfrm>
        </p:spPr>
        <p:txBody>
          <a:bodyPr/>
          <a:lstStyle/>
          <a:p>
            <a:r>
              <a:rPr lang="en-US" u="sng" dirty="0" smtClean="0"/>
              <a:t>Non-parametric vs. Parametric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787" y="1682749"/>
            <a:ext cx="10515600" cy="4503739"/>
          </a:xfrm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 smtClean="0"/>
              <a:t>Parametric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u="sng" dirty="0" smtClean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Force functional form (less flexible)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 smtClean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More interpretable than non-parametric methods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 smtClean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If the functional form is correct – these can be quite nice, but are frequently outperformed by more flexible models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Simple to perform statistical tests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966787" y="4129088"/>
            <a:ext cx="10668000" cy="205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69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1930"/>
            <a:ext cx="10515600" cy="1325563"/>
          </a:xfrm>
        </p:spPr>
        <p:txBody>
          <a:bodyPr/>
          <a:lstStyle/>
          <a:p>
            <a:r>
              <a:rPr lang="en-US" u="sng" dirty="0" smtClean="0"/>
              <a:t>Non-parametric vs. Parametric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787" y="1682749"/>
            <a:ext cx="10515600" cy="4375151"/>
          </a:xfrm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 smtClean="0"/>
              <a:t>Non-Parametric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u="sng" dirty="0" smtClean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Often require much more data to train well.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At the same time, these methods are more likely to over-fit (so we frequently combine them in an intelligent way).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More difficult to interpret than most parametric models.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‘Statistical tests’ generally not important in these methods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966787" y="4129088"/>
            <a:ext cx="10668000" cy="205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826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1930"/>
            <a:ext cx="10515600" cy="1325563"/>
          </a:xfrm>
        </p:spPr>
        <p:txBody>
          <a:bodyPr/>
          <a:lstStyle/>
          <a:p>
            <a:r>
              <a:rPr lang="en-US" u="sng" dirty="0" smtClean="0"/>
              <a:t>Non-parametric vs. Parametric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787" y="1682749"/>
            <a:ext cx="10515600" cy="404653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At the end of the day, it goes back to bias-variance trade off.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Non-parametric models tend to reduce bias, while increasing variance.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Parametric models tend to increase bias, while decreasing variance.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966787" y="4129088"/>
            <a:ext cx="10668000" cy="205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962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KNN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1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K-Nearest Neighbors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Non-parametric, supervised technique</a:t>
            </a:r>
          </a:p>
          <a:p>
            <a:endParaRPr lang="en-US" dirty="0"/>
          </a:p>
          <a:p>
            <a:r>
              <a:rPr lang="en-US" dirty="0" smtClean="0"/>
              <a:t>Can be used for both regression and classification problems</a:t>
            </a:r>
          </a:p>
          <a:p>
            <a:endParaRPr lang="en-US" dirty="0"/>
          </a:p>
          <a:p>
            <a:r>
              <a:rPr lang="en-US" dirty="0" smtClean="0"/>
              <a:t>We will discuss:</a:t>
            </a:r>
          </a:p>
          <a:p>
            <a:pPr lvl="1"/>
            <a:r>
              <a:rPr lang="en-US" dirty="0" smtClean="0"/>
              <a:t>How the algorithm works</a:t>
            </a:r>
          </a:p>
          <a:p>
            <a:pPr lvl="1"/>
            <a:r>
              <a:rPr lang="en-US" dirty="0" smtClean="0"/>
              <a:t>What are the parameters</a:t>
            </a:r>
          </a:p>
          <a:p>
            <a:pPr lvl="1"/>
            <a:r>
              <a:rPr lang="en-US" dirty="0" smtClean="0"/>
              <a:t>Strengths/Weaknesses</a:t>
            </a:r>
          </a:p>
        </p:txBody>
      </p:sp>
    </p:spTree>
    <p:extLst>
      <p:ext uri="{BB962C8B-B14F-4D97-AF65-F5344CB8AC3E}">
        <p14:creationId xmlns:p14="http://schemas.microsoft.com/office/powerpoint/2010/main" val="1292764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K-Nearest Neighbors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 smtClean="0"/>
              <a:t>Algorithm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u="sng" dirty="0"/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 smtClean="0"/>
              <a:t>Compute the distance from each training point to your un-labeled ‘test’ data point.</a:t>
            </a:r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 smtClean="0"/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 smtClean="0"/>
              <a:t>Sort the points by distance.</a:t>
            </a:r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 smtClean="0"/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 smtClean="0"/>
              <a:t>Take the k closest points and choose the most common label (or aggregate the response value).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(Slide 5 of Brian’s notes shows pseudo Python code)</a:t>
            </a:r>
          </a:p>
        </p:txBody>
      </p:sp>
    </p:spTree>
    <p:extLst>
      <p:ext uri="{BB962C8B-B14F-4D97-AF65-F5344CB8AC3E}">
        <p14:creationId xmlns:p14="http://schemas.microsoft.com/office/powerpoint/2010/main" val="1804932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K-Nearest Neighbors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 smtClean="0"/>
              <a:t>Parameters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u="sng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k… that’s it.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We also can make a decision about what distance we might use.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68" y="4001294"/>
            <a:ext cx="10787063" cy="244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512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K-Nearest Neighbors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 smtClean="0"/>
              <a:t>Other considerations</a:t>
            </a:r>
            <a:br>
              <a:rPr lang="en-US" b="1" u="sng" dirty="0" smtClean="0"/>
            </a:br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dirty="0" smtClean="0"/>
              <a:t>Should we scale our variables?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What happens when we change the value of k?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How do we choose k?</a:t>
            </a: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What happens when we have more feature variables?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When will this method outperform other methods?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</a:t>
            </a:r>
            <a:endParaRPr lang="en-US" b="1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548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K-Nearest Neighbors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8075"/>
          </a:xfrm>
        </p:spPr>
        <p:txBody>
          <a:bodyPr>
            <a:normAutofit fontScale="70000" lnSpcReduction="2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 smtClean="0"/>
              <a:t>Other considerations</a:t>
            </a:r>
            <a:br>
              <a:rPr lang="en-US" b="1" u="sng" dirty="0" smtClean="0"/>
            </a:br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dirty="0" smtClean="0"/>
              <a:t>Should we scale our variables?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Yes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What happens when we change the value of k?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Higher k results in lower bias, higher variance.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Lower k results in higher bias, lower variance.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How do we choose k?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Cross-validation</a:t>
            </a:r>
            <a:endParaRPr lang="en-US" b="1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dirty="0"/>
              <a:t>What happens when we have more feature variables</a:t>
            </a:r>
            <a:r>
              <a:rPr lang="en-US" dirty="0" smtClean="0"/>
              <a:t>?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b="1" dirty="0" smtClean="0"/>
              <a:t>Curse of dimensionality - other methods will work better – nothing is close…</a:t>
            </a:r>
            <a:endParaRPr lang="en-US" b="1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dirty="0"/>
              <a:t>When will this method outperform other methods?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Outperform Linear Discriminant Analysis and Logistic Regression when the decision boundary is nonlinear.  We might also use SVMs or a tree based method.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</a:t>
            </a:r>
            <a:endParaRPr lang="en-US" b="1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519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Trees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990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281</Words>
  <Application>Microsoft Macintosh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Calibri Light</vt:lpstr>
      <vt:lpstr>Arial</vt:lpstr>
      <vt:lpstr>Office Theme</vt:lpstr>
      <vt:lpstr>KNN and Trees</vt:lpstr>
      <vt:lpstr>Non-parametric vs. Parametric</vt:lpstr>
      <vt:lpstr>Non-parametric vs. Parametric</vt:lpstr>
      <vt:lpstr>Non-parametric vs. Parametric</vt:lpstr>
      <vt:lpstr>Non-parametric vs. Parametric</vt:lpstr>
      <vt:lpstr>KNN</vt:lpstr>
      <vt:lpstr>K-Nearest Neighbors</vt:lpstr>
      <vt:lpstr>K-Nearest Neighbors</vt:lpstr>
      <vt:lpstr>K-Nearest Neighbors</vt:lpstr>
      <vt:lpstr>K-Nearest Neighbors</vt:lpstr>
      <vt:lpstr>K-Nearest Neighbors</vt:lpstr>
      <vt:lpstr>Trees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KNN and Trees</dc:title>
  <dc:creator>Bernhard, Joshua</dc:creator>
  <cp:lastModifiedBy>Bernhard, Joshua</cp:lastModifiedBy>
  <cp:revision>10</cp:revision>
  <dcterms:created xsi:type="dcterms:W3CDTF">2016-02-21T22:10:45Z</dcterms:created>
  <dcterms:modified xsi:type="dcterms:W3CDTF">2016-02-22T04:25:58Z</dcterms:modified>
</cp:coreProperties>
</file>